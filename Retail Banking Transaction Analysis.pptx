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60" r:id="rId5"/>
    <p:sldId id="262" r:id="rId6"/>
    <p:sldId id="261" r:id="rId7"/>
    <p:sldId id="264" r:id="rId8"/>
    <p:sldId id="265" r:id="rId9"/>
    <p:sldId id="269" r:id="rId10"/>
    <p:sldId id="270" r:id="rId11"/>
    <p:sldId id="271" r:id="rId12"/>
    <p:sldId id="272" r:id="rId13"/>
    <p:sldId id="266" r:id="rId14"/>
    <p:sldId id="267" r:id="rId15"/>
    <p:sldId id="268" r:id="rId16"/>
    <p:sldId id="259" r:id="rId17"/>
  </p:sldIdLst>
  <p:sldSz cx="12192000" cy="6858000"/>
  <p:notesSz cx="6858000" cy="9144000"/>
  <p:embeddedFontLst>
    <p:embeddedFont>
      <p:font typeface="Lato Black" panose="020F0502020204030203" pitchFamily="34" charset="0"/>
      <p:bold r:id="rId19"/>
      <p:boldItalic r:id="rId20"/>
    </p:embeddedFont>
    <p:embeddedFont>
      <p:font typeface="Libre Baskerville" panose="02000000000000000000" pitchFamily="2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9" roundtripDataSignature="AMtx7mhOJMYRtMJHTmKh9+lTrbj+exko0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F68104-DE3F-4F8C-B9DF-A8219CD1816F}" v="9" dt="2026-09-07T10:28:57.6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dirty="0"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6" r:id="rId6"/>
    <p:sldLayoutId id="2147483657" r:id="rId7"/>
    <p:sldLayoutId id="2147483658" r:id="rId8"/>
    <p:sldLayoutId id="214748365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subhash-thalatam-78b25025a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Subhashthalatam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40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50275" y="3651454"/>
            <a:ext cx="7290856" cy="892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800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Retail Banking Transaction Analysis</a:t>
            </a:r>
          </a:p>
          <a:p>
            <a:pPr lvl="0" algn="ctr">
              <a:buSzPts val="1800"/>
            </a:pP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MySQL Business Analytics Project</a:t>
            </a:r>
            <a:endParaRPr sz="2000" b="1" i="0" u="none" strike="noStrike" cap="none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EA8328-93EA-B8FD-7F0E-CBF7A9E2DBC4}"/>
              </a:ext>
            </a:extLst>
          </p:cNvPr>
          <p:cNvSpPr txBox="1"/>
          <p:nvPr/>
        </p:nvSpPr>
        <p:spPr>
          <a:xfrm>
            <a:off x="4673678" y="5104898"/>
            <a:ext cx="2844048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Subhash Thalatam</a:t>
            </a: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/>
        </p:nvSpPr>
        <p:spPr>
          <a:xfrm>
            <a:off x="394030" y="852778"/>
            <a:ext cx="11131036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4000" b="1" i="0" u="none" strike="noStrike" cap="none" dirty="0">
                <a:solidFill>
                  <a:srgbClr val="FF0000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About Me</a:t>
            </a:r>
            <a:endParaRPr sz="4000" b="1" i="0" u="none" strike="noStrike" cap="none" dirty="0">
              <a:solidFill>
                <a:srgbClr val="FF0000"/>
              </a:solidFill>
              <a:latin typeface="Times New Roman" pitchFamily="18" charset="0"/>
              <a:ea typeface="Calibri"/>
              <a:cs typeface="Times New Roman" pitchFamily="18" charset="0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324739-F55F-009D-91E3-B141C2DA440C}"/>
              </a:ext>
            </a:extLst>
          </p:cNvPr>
          <p:cNvSpPr txBox="1"/>
          <p:nvPr/>
        </p:nvSpPr>
        <p:spPr>
          <a:xfrm>
            <a:off x="957414" y="1717843"/>
            <a:ext cx="1027717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I’m Thalatam Subhash, an aspiring Data Analyst with an interest in Python, SQL, Statistics, Power BI.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built a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Retail Banking Transaction Analysis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using MySQL to analyse Banking Data and generate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Meaningful insights.</a:t>
            </a:r>
          </a:p>
          <a:p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Experience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Fresher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CEE07F-5B37-A473-07B9-2C78D20F97CA}"/>
              </a:ext>
            </a:extLst>
          </p:cNvPr>
          <p:cNvSpPr txBox="1"/>
          <p:nvPr/>
        </p:nvSpPr>
        <p:spPr>
          <a:xfrm>
            <a:off x="957414" y="3475501"/>
            <a:ext cx="63610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LinkedIn: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https://www.linkedin.com/in/subhash-thalatam-78b25025a/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40669E-09EB-0ADC-6B81-7562BDAB48F1}"/>
              </a:ext>
            </a:extLst>
          </p:cNvPr>
          <p:cNvSpPr txBox="1"/>
          <p:nvPr/>
        </p:nvSpPr>
        <p:spPr>
          <a:xfrm>
            <a:off x="957414" y="3961212"/>
            <a:ext cx="41841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https://github.com/Subhashthalatam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781665" y="433813"/>
            <a:ext cx="11516100" cy="1182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Agenda</a:t>
            </a:r>
            <a:r>
              <a:rPr lang="en-IN" dirty="0">
                <a:solidFill>
                  <a:srgbClr val="FF0000"/>
                </a:solidFill>
              </a:rPr>
              <a:t>  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684879" y="1616148"/>
            <a:ext cx="10745121" cy="5241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71634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400" b="1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Project  Overview</a:t>
            </a:r>
            <a:br>
              <a:rPr lang="en-IN" sz="2400" b="1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</a:br>
            <a:endParaRPr sz="2400" b="1" dirty="0">
              <a:latin typeface="Times New Roman" pitchFamily="18" charset="0"/>
              <a:ea typeface="Arial"/>
              <a:cs typeface="Times New Roman" pitchFamily="18" charset="0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400" b="1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Project  Objective</a:t>
            </a:r>
            <a:br>
              <a:rPr lang="en-IN" sz="2400" b="1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</a:br>
            <a:endParaRPr sz="2400" b="1" dirty="0">
              <a:latin typeface="Times New Roman" pitchFamily="18" charset="0"/>
              <a:ea typeface="Arial"/>
              <a:cs typeface="Times New Roman" pitchFamily="18" charset="0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400" b="1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Dataset &amp; Database Overview</a:t>
            </a:r>
            <a:br>
              <a:rPr lang="en-IN" sz="2400" b="1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</a:br>
            <a:endParaRPr sz="2400" b="1" dirty="0">
              <a:latin typeface="Times New Roman" pitchFamily="18" charset="0"/>
              <a:ea typeface="Arial"/>
              <a:cs typeface="Times New Roman" pitchFamily="18" charset="0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400" b="1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ER Diagram &amp; Database Structure</a:t>
            </a:r>
            <a:br>
              <a:rPr lang="en-IN" sz="2400" b="1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</a:br>
            <a:endParaRPr sz="2400" b="1" dirty="0">
              <a:latin typeface="Times New Roman" pitchFamily="18" charset="0"/>
              <a:ea typeface="Arial"/>
              <a:cs typeface="Times New Roman" pitchFamily="18" charset="0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400" b="1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SQL Analysis &amp; Business Questions</a:t>
            </a:r>
            <a:br>
              <a:rPr lang="en-IN" sz="2400" b="1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</a:br>
            <a:endParaRPr sz="2400" b="1" dirty="0">
              <a:latin typeface="Times New Roman" pitchFamily="18" charset="0"/>
              <a:ea typeface="Arial"/>
              <a:cs typeface="Times New Roman" pitchFamily="18" charset="0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400" b="1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Key Insights &amp; Findings</a:t>
            </a:r>
            <a:br>
              <a:rPr lang="en-IN" sz="2400" b="1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</a:br>
            <a:endParaRPr sz="2400" b="1" dirty="0">
              <a:latin typeface="Times New Roman" pitchFamily="18" charset="0"/>
              <a:ea typeface="Arial"/>
              <a:cs typeface="Times New Roman" pitchFamily="18" charset="0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400" b="1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Challenges Faced in the Project</a:t>
            </a:r>
            <a:br>
              <a:rPr lang="en-IN" sz="2400" b="1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</a:br>
            <a:endParaRPr sz="2400" b="1" dirty="0">
              <a:latin typeface="Times New Roman" pitchFamily="18" charset="0"/>
              <a:ea typeface="Arial"/>
              <a:cs typeface="Times New Roman" pitchFamily="18" charset="0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400" b="1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Conclusion &amp; Recommendation</a:t>
            </a:r>
            <a:br>
              <a:rPr lang="en-IN" sz="2253" b="1" dirty="0">
                <a:latin typeface="Arial"/>
                <a:ea typeface="Arial"/>
                <a:cs typeface="Arial"/>
                <a:sym typeface="Arial"/>
              </a:rPr>
            </a:br>
            <a:endParaRPr lang="en-IN" sz="2253" b="1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circl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3D2CD-3EA9-519D-2652-4639E3419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Project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FE2C15-CA5F-3E4B-BCB7-373AD649F1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56660"/>
            <a:ext cx="10676860" cy="4720304"/>
          </a:xfrm>
        </p:spPr>
        <p:txBody>
          <a:bodyPr>
            <a:normAutofit/>
          </a:bodyPr>
          <a:lstStyle/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project contains data about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customers, accounts, branches, loans, loan payments, cards, and transactions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 analyzed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profiles, demographics, income, credit scores, and customer segments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 studied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 usage, account balances, account types, and branch activity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 analyzed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patterns, transaction types, channels, amounts, and activity over time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 evaluated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 performance, repayment behaviour, card usage, and overall banking product engagement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4909588"/>
      </p:ext>
    </p:extLst>
  </p:cSld>
  <p:clrMapOvr>
    <a:masterClrMapping/>
  </p:clrMapOvr>
  <p:transition>
    <p:push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05B6B-9069-C32D-7430-B6B798AB3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Arial"/>
              </a:rPr>
              <a:t>Project Objective</a:t>
            </a:r>
            <a:endParaRPr lang="en-IN" sz="3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821BD3-9C7D-A32C-495C-6FC16B016B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69985"/>
            <a:ext cx="10515600" cy="4718553"/>
          </a:xfrm>
        </p:spPr>
        <p:txBody>
          <a:bodyPr>
            <a:normAutofit/>
          </a:bodyPr>
          <a:lstStyle/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bank manages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customers, accounts, branches, loans, cards, and transactions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Management wants to understand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behaviour and overall banking product usage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They need to know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accounts and transactions are performing across different branches and account types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bank wants to identify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 performance, repayment behaviour, and customer payment patterns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Management also wants to understand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 usage and customer engagement across different banking products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9289001"/>
      </p:ext>
    </p:extLst>
  </p:cSld>
  <p:clrMapOvr>
    <a:masterClrMapping/>
  </p:clrMapOvr>
  <p:transition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002DD-C7AC-1B77-7602-C95358446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755" y="502777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Dataset Overview</a:t>
            </a:r>
            <a:endParaRPr lang="en-IN" sz="3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F7CF1A-EDC6-98BC-F270-9DDC07631A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23" y="1828340"/>
            <a:ext cx="11321154" cy="2748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245619"/>
      </p:ext>
    </p:extLst>
  </p:cSld>
  <p:clrMapOvr>
    <a:masterClrMapping/>
  </p:clrMapOvr>
  <p:transition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7562D-BBFE-3EA0-885A-2872AB34D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26126"/>
          </a:xfrm>
        </p:spPr>
        <p:txBody>
          <a:bodyPr>
            <a:normAutofit/>
          </a:bodyPr>
          <a:lstStyle/>
          <a:p>
            <a:pPr marL="457200" lvl="0" indent="-371634">
              <a:lnSpc>
                <a:spcPct val="70000"/>
              </a:lnSpc>
            </a:pPr>
            <a:r>
              <a:rPr lang="en-IN" sz="3200" b="1" dirty="0">
                <a:solidFill>
                  <a:srgbClr val="FF000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ER Diagram &amp; Database Structure</a:t>
            </a:r>
            <a:endParaRPr lang="en-IN" sz="3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EE9CC2-2977-66DC-EF05-E7F52A759C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2727" y="973393"/>
            <a:ext cx="8044108" cy="5313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849338"/>
      </p:ext>
    </p:extLst>
  </p:cSld>
  <p:clrMapOvr>
    <a:masterClrMapping/>
  </p:clrMapOvr>
  <p:transition>
    <p:wipe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1C3F7-F66C-D69D-8531-C8AF12B50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2139"/>
            <a:ext cx="7986823" cy="691117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SQL Analysis &amp; Business Questions</a:t>
            </a:r>
            <a:endParaRPr lang="en-IN" sz="2800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455DDF-90CE-FF4C-2212-FDABC7DE08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978196"/>
            <a:ext cx="10515600" cy="5198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 </a:t>
            </a:r>
            <a:r>
              <a:rPr lang="en-US" sz="1050" b="1" dirty="0">
                <a:solidFill>
                  <a:srgbClr val="FF000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1.WHAT IS THE ANNUAL INCOME FOR THE CUSTOMERS FOR EACH SEGMENT AND WHICH SEGMENT HAS HIGHEST AND LOWEST ANNUAL INCOME?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1028" name="AutoShape 4" descr="blob:https://web.whatsapp.com/4cac015d-f755-4581-8392-fe294237aef5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0" name="AutoShape 6" descr="blob:https://web.whatsapp.com/4cac015d-f755-4581-8392-fe294237aef5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1094434" y="1725751"/>
            <a:ext cx="5667153" cy="1604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7536885" y="1552353"/>
            <a:ext cx="3745857" cy="26322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1094434" y="3942902"/>
            <a:ext cx="9367283" cy="1201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  <a:t>Key Insights: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1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SO BY ANALYZING THIS RECORDS  </a:t>
            </a:r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student segment has the highest annual income and retail segment has the lowest annual income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6423748"/>
      </p:ext>
    </p:extLst>
  </p:cSld>
  <p:clrMapOvr>
    <a:masterClrMapping/>
  </p:clrMapOvr>
  <p:transition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9F9CA-6022-D1B1-B579-06EAD37F6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31056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What are the average income and credit score levels across customer segments </a:t>
            </a:r>
            <a:r>
              <a:rPr lang="en-IN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?</a:t>
            </a:r>
          </a:p>
        </p:txBody>
      </p:sp>
      <p:pic>
        <p:nvPicPr>
          <p:cNvPr id="9217" name="Picture 1"/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946356" y="1483653"/>
            <a:ext cx="5651090" cy="15286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7273294" y="1396182"/>
            <a:ext cx="3972350" cy="2131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219" name="Rectangle 3"/>
          <p:cNvSpPr>
            <a:spLocks noChangeArrowheads="1"/>
          </p:cNvSpPr>
          <p:nvPr/>
        </p:nvSpPr>
        <p:spPr bwMode="auto">
          <a:xfrm>
            <a:off x="797442" y="4722116"/>
            <a:ext cx="9941442" cy="1571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  <a:t>Key Insights: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Average credit score for the all the segments lies between 683-688.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avg Highest credit Score is 687 which is maintained by Retail segment.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Here we Observe even though student has highest annual income they maintain least avg credit score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32401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55329-4A0A-5A7F-030C-89F358704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218" y="269433"/>
            <a:ext cx="11777330" cy="953311"/>
          </a:xfrm>
        </p:spPr>
        <p:txBody>
          <a:bodyPr>
            <a:normAutofit/>
          </a:bodyPr>
          <a:lstStyle/>
          <a:p>
            <a:r>
              <a:rPr lang="en-US" dirty="0"/>
              <a:t>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How do average interest rates for each account type vary across different customer segments?</a:t>
            </a:r>
            <a:endParaRPr lang="en-IN" sz="22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193" name="Picture 1"/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859827" y="1132367"/>
            <a:ext cx="6419494" cy="28282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8368851" y="1132367"/>
            <a:ext cx="2963322" cy="3825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659218" y="4327451"/>
            <a:ext cx="11532781" cy="15234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  <a:t>Key Insights: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Here the senior segment who has certificate of deposit account type has the highest avg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interest rate and same senior segment has the least avg interest rate for Checking account type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35763"/>
      </p:ext>
    </p:extLst>
  </p:cSld>
  <p:clrMapOvr>
    <a:masterClrMapping/>
  </p:clrMapOvr>
  <p:transition>
    <p:cover dir="l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3DE07-639E-A1BF-9F0B-23098ED90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768" y="322596"/>
            <a:ext cx="11087986" cy="836354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What are the major difference between active and inactive accounts</a:t>
            </a:r>
            <a:r>
              <a:rPr lang="en-IN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15D7CE-ACE5-F7A3-14EA-0E72AF3480E7}"/>
              </a:ext>
            </a:extLst>
          </p:cNvPr>
          <p:cNvSpPr txBox="1"/>
          <p:nvPr/>
        </p:nvSpPr>
        <p:spPr>
          <a:xfrm>
            <a:off x="599768" y="4689987"/>
            <a:ext cx="10117393" cy="14619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Key Insights: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Generally, the accounts which are close they have very low avg interest rates.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Checking account type has the very least interest rate for both active and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iactive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accounts .</a:t>
            </a:r>
          </a:p>
          <a:p>
            <a:endParaRPr lang="en-IN" dirty="0"/>
          </a:p>
        </p:txBody>
      </p:sp>
      <p:pic>
        <p:nvPicPr>
          <p:cNvPr id="7169" name="Picture 1"/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814486" y="1047367"/>
            <a:ext cx="5856121" cy="31259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7166115" y="1454951"/>
            <a:ext cx="4670430" cy="23108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2104067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4335"/>
          </a:xfrm>
        </p:spPr>
        <p:txBody>
          <a:bodyPr>
            <a:normAutofit fontScale="90000"/>
          </a:bodyPr>
          <a:lstStyle/>
          <a:p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How many types of transactions available and what are the different channels??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3766" y="4529470"/>
            <a:ext cx="10450033" cy="1647493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1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Key Insights:</a:t>
            </a:r>
          </a:p>
          <a:p>
            <a:pPr>
              <a:lnSpc>
                <a:spcPct val="11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There are 6 types of transactions available,</a:t>
            </a:r>
          </a:p>
          <a:p>
            <a:pPr>
              <a:lnSpc>
                <a:spcPct val="11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 The Most used transaction Channel is ATM.</a:t>
            </a:r>
          </a:p>
          <a:p>
            <a:pPr>
              <a:lnSpc>
                <a:spcPct val="11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And the Peak Hour for the Transaction is 11A.M.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923431" y="1118822"/>
            <a:ext cx="6230679" cy="29481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1747" name="Picture 3"/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7490120" y="1981191"/>
            <a:ext cx="3743325" cy="1010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cover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674CC-538B-EC13-21CA-2DB4E24C1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81172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Key Insights &amp; Findings</a:t>
            </a:r>
            <a:endParaRPr lang="en-IN" sz="2800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AD3108-E02B-4DFD-9908-EAD5571DDC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3139" y="925033"/>
            <a:ext cx="10070805" cy="5092995"/>
          </a:xfrm>
        </p:spPr>
        <p:txBody>
          <a:bodyPr>
            <a:no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profiles vary across different segments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helping the bank understand differences in demographics, income, credit scores, and customer activity.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 usage differs across account types and branches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allowing management to identify differences in account balances, activity, and interest rates.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patterns vary by transaction type and channel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helping the bank understand how customers use their accounts and how money moves through the banking system.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 performance and repayment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differ across loan types and branches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helping identify repayment delays, late payments, and outstanding loan balances.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 usage and banking product engagement vary among customers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helping the bank understand customers using multiple products such as accounts, cards, and loans.</a:t>
            </a:r>
          </a:p>
          <a:p>
            <a:pPr marL="114300" indent="0">
              <a:lnSpc>
                <a:spcPct val="150000"/>
              </a:lnSpc>
              <a:buNone/>
            </a:pP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7769952"/>
      </p:ext>
    </p:extLst>
  </p:cSld>
  <p:clrMapOvr>
    <a:masterClrMapping/>
  </p:clrMapOvr>
  <p:transition>
    <p:zoom dir="in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555EA-F7BD-5629-575F-0A90DBF48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4569"/>
            <a:ext cx="10515600" cy="839973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Challenges Faced in the Project</a:t>
            </a:r>
            <a:endParaRPr lang="en-IN" sz="2800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FCC44D-16F4-2BF6-433D-ADB13D82EF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27051"/>
            <a:ext cx="10515600" cy="5049912"/>
          </a:xfrm>
        </p:spPr>
        <p:txBody>
          <a:bodyPr>
            <a:normAutofit/>
          </a:bodyPr>
          <a:lstStyle/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Managing multiple related tables such as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Customers, Accounts, Branches, Loans, Loan Payments, Cards, and Transactions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Creating accurate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JOINs between customers, accounts, branches, loans, cards, and transactions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analysis.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Handling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date-based calculations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such as transaction activity over time, loan repayment dates, and card expiry dates.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 repayments, delays, penalties, and outstanding balances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SQL conditions and calculations.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Combining different performance measures such as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activity, account usage, transaction patterns, loan performance, and card usage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generate meaningful business insights.</a:t>
            </a:r>
          </a:p>
        </p:txBody>
      </p:sp>
    </p:spTree>
    <p:extLst>
      <p:ext uri="{BB962C8B-B14F-4D97-AF65-F5344CB8AC3E}">
        <p14:creationId xmlns:p14="http://schemas.microsoft.com/office/powerpoint/2010/main" val="941200064"/>
      </p:ext>
    </p:extLst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D9C51-9C5D-1D92-DD63-301E8367D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791"/>
            <a:ext cx="10515600" cy="478465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Conclusion &amp; Recommendation</a:t>
            </a:r>
            <a:endParaRPr lang="en-IN" sz="2800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68C8E3-087F-8327-3A61-0016ACE5C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84521"/>
            <a:ext cx="10515600" cy="5092442"/>
          </a:xfrm>
        </p:spPr>
        <p:txBody>
          <a:bodyPr>
            <a:normAutofit/>
          </a:bodyPr>
          <a:lstStyle/>
          <a:p>
            <a:r>
              <a:rPr lang="en-I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helped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customer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transaction channels, peak activity hours, loan repayment risks, and card usage using SQL queries.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highlights key trends in account activity, loan delays, and card dormancy, helping bank management make data-driven operational and financial decisions.</a:t>
            </a:r>
          </a:p>
          <a:p>
            <a:r>
              <a:rPr lang="en-I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</a:p>
          <a:p>
            <a:pPr lvl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Re-activate Inactive Cards: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Launch targeted promotions and reward programs to engage customers and reduce the high rate of inactive cards.</a:t>
            </a:r>
          </a:p>
          <a:p>
            <a:pPr lvl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Peak-Hour Operations: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Ensure strong system bandwidth and ATM maintenance during peak hours (around 11:00 AM) to prevent service disruptions.</a:t>
            </a:r>
          </a:p>
          <a:p>
            <a:pPr lvl="0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Loan Delinquency: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Set up automated payment reminders and flexible repayment options for high-risk customer segments to minimize loan delays.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8991388"/>
      </p:ext>
    </p:extLst>
  </p:cSld>
  <p:clrMapOvr>
    <a:masterClrMapping/>
  </p:clrMapOvr>
  <p:transition>
    <p:cover dir="l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74" name="Picture 2" descr="http://pngimg.com/uploads/thank_you/thank_you_PNG51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37360" y="1280160"/>
            <a:ext cx="9133840" cy="4429760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602</TotalTime>
  <Words>930</Words>
  <Application>Microsoft Office PowerPoint</Application>
  <PresentationFormat>Widescreen</PresentationFormat>
  <Paragraphs>77</Paragraphs>
  <Slides>16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Lato Black</vt:lpstr>
      <vt:lpstr>Libre Baskerville</vt:lpstr>
      <vt:lpstr>Times New Roman</vt:lpstr>
      <vt:lpstr>Arial</vt:lpstr>
      <vt:lpstr>Calibri</vt:lpstr>
      <vt:lpstr>Office Theme</vt:lpstr>
      <vt:lpstr>PowerPoint Presentation</vt:lpstr>
      <vt:lpstr>PowerPoint Presentation</vt:lpstr>
      <vt:lpstr>Agenda  </vt:lpstr>
      <vt:lpstr>Project Overview</vt:lpstr>
      <vt:lpstr>Project Objective</vt:lpstr>
      <vt:lpstr>Dataset Overview</vt:lpstr>
      <vt:lpstr>ER Diagram &amp; Database Structure</vt:lpstr>
      <vt:lpstr>SQL Analysis &amp; Business Questions</vt:lpstr>
      <vt:lpstr> What are the average income and credit score levels across customer segments ?</vt:lpstr>
      <vt:lpstr> How do average interest rates for each account type vary across different customer segments?</vt:lpstr>
      <vt:lpstr>What are the major difference between active and inactive accounts?</vt:lpstr>
      <vt:lpstr>How many types of transactions available and what are the different channels??</vt:lpstr>
      <vt:lpstr>Key Insights &amp; Findings</vt:lpstr>
      <vt:lpstr>Challenges Faced in the Project</vt:lpstr>
      <vt:lpstr>Conclusion &amp; Recommendation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Raghu Ram Aduri</dc:creator>
  <cp:lastModifiedBy>Subhash Thalatam</cp:lastModifiedBy>
  <cp:revision>35</cp:revision>
  <dcterms:created xsi:type="dcterms:W3CDTF">2021-02-16T05:19:01Z</dcterms:created>
  <dcterms:modified xsi:type="dcterms:W3CDTF">2026-09-10T15:34:53Z</dcterms:modified>
</cp:coreProperties>
</file>